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2033"/>
                </a:solidFill>
              </a:defRPr>
            </a:pPr>
            <a:r>
              <a:t>Engineering Architecture: Inventory RAG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303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66377"/>
                </a:solidFill>
              </a:defRPr>
            </a:pPr>
            <a:r>
              <a:t>Board-ready view of runtime flow, code ownership, technology choices, and prompt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896112"/>
            <a:ext cx="2148840" cy="29260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Runtime 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35024"/>
            <a:ext cx="1115568" cy="54864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chat.html</a:t>
            </a:r>
            <a:br/>
            <a:r>
              <a:t>chat.js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9961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6479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D8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64792" y="1335024"/>
            <a:ext cx="1115568" cy="54864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FastAPI</a:t>
            </a:r>
            <a:br/>
            <a:r>
              <a:t>routes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1693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8211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335024"/>
            <a:ext cx="1115568" cy="54864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InventoryService</a:t>
            </a:r>
            <a:br/>
            <a:r>
              <a:t>orchestrator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3425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9943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26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9432" y="1335024"/>
            <a:ext cx="1115568" cy="54864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Understand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intent</a:t>
            </a:r>
            <a:br/>
            <a:r>
              <a:t>slots</a:t>
            </a:r>
            <a:br/>
            <a:r>
              <a:t>memory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5157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1675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5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6752" y="1335024"/>
            <a:ext cx="1115568" cy="54864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structured</a:t>
            </a:r>
            <a:br/>
            <a:r>
              <a:t>vector</a:t>
            </a:r>
            <a:br/>
            <a:r>
              <a:t>lexical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6889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3407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34072" y="1335024"/>
            <a:ext cx="1115568" cy="54864"/>
          </a:xfrm>
          <a:prstGeom prst="rect">
            <a:avLst/>
          </a:prstGeom>
          <a:solidFill>
            <a:srgbClr val="B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ranker</a:t>
            </a:r>
            <a:br/>
            <a:r>
              <a:t>planner</a:t>
            </a:r>
            <a:br/>
            <a:r>
              <a:t>evidence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8621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85139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9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51392" y="1335024"/>
            <a:ext cx="1115568" cy="54864"/>
          </a:xfrm>
          <a:prstGeom prst="rect">
            <a:avLst/>
          </a:prstGeom>
          <a:solidFill>
            <a:srgbClr val="69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Write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template or</a:t>
            </a:r>
            <a:br/>
            <a:r>
              <a:t>LLM writer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03536" y="1682496.0"/>
            <a:ext cx="201168" cy="0.0"/>
          </a:xfrm>
          <a:prstGeom prst="line">
            <a:avLst/>
          </a:prstGeom>
          <a:ln w="27940">
            <a:solidFill>
              <a:srgbClr val="CC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268712" y="1335024"/>
            <a:ext cx="1115568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68712" y="1335024"/>
            <a:ext cx="1115568" cy="54864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1408176"/>
            <a:ext cx="987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72033"/>
                </a:solidFill>
              </a:defRPr>
            </a:pPr>
            <a: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1864" y="160020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0">
                <a:solidFill>
                  <a:srgbClr val="566377"/>
                </a:solidFill>
              </a:defRPr>
            </a:pPr>
            <a:r>
              <a:t>claim + fit</a:t>
            </a:r>
            <a:br/>
            <a:r>
              <a:t>checks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" y="2304288"/>
            <a:ext cx="1965960" cy="29260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Layer Ownership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0332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7472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2743200"/>
            <a:ext cx="1847088" cy="5029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catalog.jsonl</a:t>
            </a:r>
            <a:br/>
            <a:r>
              <a:t>storage.py</a:t>
            </a:r>
            <a:br/>
            <a:r>
              <a:t>schemas.py</a:t>
            </a:r>
            <a:br/>
            <a:br/>
            <a:r>
              <a:t>Owns truth:</a:t>
            </a:r>
            <a:br/>
            <a:r>
              <a:t>price, stock, SKU,</a:t>
            </a:r>
            <a:br/>
            <a:r>
              <a:t>attributes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08860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86000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86000" y="2743200"/>
            <a:ext cx="1847088" cy="50292"/>
          </a:xfrm>
          <a:prstGeom prst="rect">
            <a:avLst/>
          </a:prstGeom>
          <a:solidFill>
            <a:srgbClr val="2F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Sync/API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pos_sync.py</a:t>
            </a:r>
            <a:br/>
            <a:r>
              <a:t>routes_inventory.py</a:t>
            </a:r>
            <a:br/>
            <a:r>
              <a:t>main.py</a:t>
            </a:r>
            <a:br/>
            <a:br/>
            <a:r>
              <a:t>Owns validation,</a:t>
            </a:r>
            <a:br/>
            <a:r>
              <a:t>serving, auth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47388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224528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24528" y="2743200"/>
            <a:ext cx="1847088" cy="5029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15968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Understanding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fashion_retail.py</a:t>
            </a:r>
            <a:br/>
            <a:r>
              <a:t>intent.py</a:t>
            </a:r>
            <a:br/>
            <a:r>
              <a:t>llm_* files</a:t>
            </a:r>
            <a:br/>
            <a:br/>
            <a:r>
              <a:t>Owns language,</a:t>
            </a:r>
            <a:br/>
            <a:r>
              <a:t>intent, slots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85916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63056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63056" y="2743200"/>
            <a:ext cx="1847088" cy="50292"/>
          </a:xfrm>
          <a:prstGeom prst="rect">
            <a:avLst/>
          </a:prstGeom>
          <a:solidFill>
            <a:srgbClr val="D5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54496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Retrieval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54496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embedder.py</a:t>
            </a:r>
            <a:br/>
            <a:r>
              <a:t>vector_store_base.py</a:t>
            </a:r>
            <a:br/>
            <a:r>
              <a:t>elasticsearch_store.py</a:t>
            </a:r>
            <a:br/>
            <a:r>
              <a:t>bm25_index.py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24444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01584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01584" y="2743200"/>
            <a:ext cx="1847088" cy="50292"/>
          </a:xfrm>
          <a:prstGeom prst="rect">
            <a:avLst/>
          </a:prstGeom>
          <a:solidFill>
            <a:srgbClr val="B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93024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Decision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93024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reranker.py</a:t>
            </a:r>
            <a:br/>
            <a:r>
              <a:t>decisioning.py</a:t>
            </a:r>
            <a:br/>
            <a:r>
              <a:t>planner.py</a:t>
            </a:r>
            <a:br/>
            <a:r>
              <a:t>evidence_contract.py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62972" y="2775204"/>
            <a:ext cx="1847088" cy="1078992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040112" y="2743200"/>
            <a:ext cx="184708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040112" y="2743200"/>
            <a:ext cx="1847088" cy="50292"/>
          </a:xfrm>
          <a:prstGeom prst="rect">
            <a:avLst/>
          </a:prstGeom>
          <a:solidFill>
            <a:srgbClr val="69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31552" y="282549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Answer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31552" y="3026664"/>
            <a:ext cx="16642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0">
                <a:solidFill>
                  <a:srgbClr val="566377"/>
                </a:solidFill>
              </a:defRPr>
            </a:pPr>
            <a:r>
              <a:t>natural_answer.py</a:t>
            </a:r>
            <a:br/>
            <a:r>
              <a:t>verifier.py</a:t>
            </a:r>
            <a:br/>
            <a:r>
              <a:t>answer_critic.py</a:t>
            </a:r>
            <a:br/>
            <a:r>
              <a:t>chat.js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7472" y="4160520"/>
            <a:ext cx="2103120" cy="29260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Prompt Boundaries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0332" y="4622292"/>
            <a:ext cx="3611880" cy="123444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47472" y="4590288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7472" y="4590288"/>
            <a:ext cx="3611880" cy="50292"/>
          </a:xfrm>
          <a:prstGeom prst="rect">
            <a:avLst/>
          </a:prstGeom>
          <a:solidFill>
            <a:srgbClr val="626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2" y="4672584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Prompts Can 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" y="4873752"/>
            <a:ext cx="34290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566377"/>
                </a:solidFill>
              </a:defRPr>
            </a:pPr>
            <a:r>
              <a:t>Classify intent/slots as JSON</a:t>
            </a:r>
            <a:br/>
            <a:r>
              <a:t>Plan from recent conversation</a:t>
            </a:r>
            <a:br/>
            <a:r>
              <a:t>Pick from bounded candidates</a:t>
            </a:r>
            <a:br/>
            <a:r>
              <a:t>Rewrite supported facts warmly</a:t>
            </a:r>
            <a:br/>
            <a:r>
              <a:t>Critique answer against facts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10812" y="4622292"/>
            <a:ext cx="3611880" cy="123444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187952" y="4590288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87952" y="4590288"/>
            <a:ext cx="3611880" cy="502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79392" y="4672584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Prompts Cannot 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79392" y="4873752"/>
            <a:ext cx="34290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566377"/>
                </a:solidFill>
              </a:defRPr>
            </a:pPr>
            <a:r>
              <a:t>Invent products, stock, price, policy</a:t>
            </a:r>
            <a:br/>
            <a:r>
              <a:t>Override evidence contract</a:t>
            </a:r>
            <a:br/>
            <a:r>
              <a:t>Recommend excluded products</a:t>
            </a:r>
            <a:br/>
            <a:r>
              <a:t>Treat cross-sells as substitutes</a:t>
            </a:r>
            <a:br/>
            <a:r>
              <a:t>Ignore verifier failure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051291" y="4622292"/>
            <a:ext cx="3611880" cy="1234440"/>
          </a:xfrm>
          <a:prstGeom prst="roundRect">
            <a:avLst/>
          </a:prstGeom>
          <a:solidFill>
            <a:srgbClr val="DA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028431" y="4590288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28431" y="4590288"/>
            <a:ext cx="3611880" cy="50292"/>
          </a:xfrm>
          <a:prstGeom prst="rect">
            <a:avLst/>
          </a:prstGeom>
          <a:solidFill>
            <a:srgbClr val="1D8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19871" y="4672584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172033"/>
                </a:solidFill>
              </a:defRPr>
            </a:pPr>
            <a:r>
              <a:t>Key Prompt Files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19871" y="4873752"/>
            <a:ext cx="34290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377"/>
                </a:solidFill>
              </a:defRPr>
            </a:pPr>
            <a:r>
              <a:t>llm_intent_classifier.py</a:t>
            </a:r>
            <a:br/>
            <a:r>
              <a:t>llm_slot_extractor.py</a:t>
            </a:r>
            <a:br/>
            <a:r>
              <a:t>intent_planner.py</a:t>
            </a:r>
            <a:br/>
            <a:r>
              <a:t>llm_reasoner.py</a:t>
            </a:r>
            <a:br/>
            <a:r>
              <a:t>natural_answer.py</a:t>
            </a:r>
            <a:br/>
            <a:r>
              <a:t>answer_critic.py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47472" y="6016752"/>
            <a:ext cx="11292840" cy="384048"/>
          </a:xfrm>
          <a:prstGeom prst="roundRect">
            <a:avLst/>
          </a:prstGeom>
          <a:solidFill>
            <a:srgbClr val="ECF3F8"/>
          </a:solidFill>
          <a:ln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611733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2033"/>
                </a:solidFill>
              </a:defRPr>
            </a:pPr>
            <a:r>
              <a:t>Engineering thesis: deterministic layers own correctness; retrieval owns evidence; LLM layers improve interpretation and wording under strict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