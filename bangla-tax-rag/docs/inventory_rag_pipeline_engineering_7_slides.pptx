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141C2C"/>
                </a:solidFill>
                <a:latin typeface="Aptos"/>
              </a:rPr>
              <a:t>RAG Pipeline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46074"/>
                </a:solidFill>
                <a:latin typeface="Aptos"/>
              </a:rPr>
              <a:t>Only the retrieval-augmented answering path: question -&gt; evidence -&gt; grounded answer.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14984"/>
            <a:ext cx="11137392" cy="32004"/>
          </a:xfrm>
          <a:prstGeom prst="rect">
            <a:avLst/>
          </a:prstGeom>
          <a:solidFill>
            <a:srgbClr val="205FA6"/>
          </a:solidFill>
          <a:ln>
            <a:solidFill>
              <a:srgbClr val="20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untim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11064240" cy="9494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3127248"/>
            <a:ext cx="3337560" cy="2971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3236976"/>
            <a:ext cx="302666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205FA6"/>
                </a:solidFill>
                <a:latin typeface="Aptos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520440"/>
            <a:ext cx="3026664" cy="2514600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Converts a customer question into searchable constraints.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Retrieves catalog evidence before writing any answer.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Ranks evidence, builds an answer contract, then verifies the final reply.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3127248"/>
            <a:ext cx="3337560" cy="2971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3236976"/>
            <a:ext cx="302666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205FA6"/>
                </a:solidFill>
                <a:latin typeface="Aptos"/>
              </a:rPr>
              <a:t>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520440"/>
            <a:ext cx="3026664" cy="2514600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Python orchestration inside InventoryService.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Structured catalog records, vector search, lexical search, custom ranking.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Optional LLM prompts only after evidence is bounded.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54112" y="3127248"/>
            <a:ext cx="3337560" cy="2971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3236976"/>
            <a:ext cx="302666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205FA6"/>
                </a:solidFill>
                <a:latin typeface="Aptos"/>
              </a:rPr>
              <a:t>Engineering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520440"/>
            <a:ext cx="3026664" cy="2514600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Hard product facts come from catalog fields, not model memory.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The pipeline fails closed: clarify or abstain when evidence is weak.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Feedback creates evaluation cases; it should not directly mutate answers.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65836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19" b="0">
                <a:solidFill>
                  <a:srgbClr val="546074"/>
                </a:solidFill>
                <a:latin typeface="Aptos"/>
              </a:rPr>
              <a:t>RAG pipeline only: catalog facts -&gt; retrieval -&gt; evidence -&gt; verified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19" b="0">
                <a:solidFill>
                  <a:srgbClr val="546074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141C2C"/>
                </a:solidFill>
                <a:latin typeface="Aptos"/>
              </a:rPr>
              <a:t>DB Setup + Catalog Ground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46074"/>
                </a:solidFill>
                <a:latin typeface="Aptos"/>
              </a:rPr>
              <a:t>The catalog is the source of truth for product facts used by RAG.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14984"/>
            <a:ext cx="11137392" cy="32004"/>
          </a:xfrm>
          <a:prstGeom prst="rect">
            <a:avLst/>
          </a:prstGeom>
          <a:solidFill>
            <a:srgbClr val="1F8452"/>
          </a:solidFill>
          <a:ln>
            <a:solidFill>
              <a:srgbClr val="1F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talog_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448"/>
            <a:ext cx="4160520" cy="38977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74920" y="1298448"/>
            <a:ext cx="3063240" cy="2267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30368" y="1408176"/>
            <a:ext cx="27523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1F8452"/>
                </a:solidFill>
                <a:latin typeface="Aptos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0368" y="1691639"/>
            <a:ext cx="2752344" cy="1810512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Stores every product as structured facts: product_id, SKU, name, category, price, stock, status.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Keeps searchable attributes: color, size, fabric, gender, occasion, design_id, brand, tags.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Defines what the bot is allowed to know about inventory.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94192" y="1298448"/>
            <a:ext cx="3063240" cy="2267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408176"/>
            <a:ext cx="27523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1F8452"/>
                </a:solidFill>
                <a:latin typeface="Aptos"/>
              </a:rPr>
              <a:t>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691639"/>
            <a:ext cx="2752344" cy="1810512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JSONL catalog: data/inventory/catalog.jsonl.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Pydantic models validate records before use.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Optional SQLite mirror for operational lookup and sync workflows.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3877056"/>
            <a:ext cx="6382512" cy="23134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3986784"/>
            <a:ext cx="607161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1F8452"/>
                </a:solidFill>
                <a:latin typeface="Aptos"/>
              </a:rPr>
              <a:t>Engineering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4270248"/>
            <a:ext cx="6071616" cy="1856231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No LLM is used at this layer.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include_in_rag and status control whether a product can appear in RAG answers.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Exact fields beat prose: stock, price, SKU, size, and product id are never guessed.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65836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19" b="0">
                <a:solidFill>
                  <a:srgbClr val="546074"/>
                </a:solidFill>
                <a:latin typeface="Aptos"/>
              </a:rPr>
              <a:t>RAG pipeline only: catalog facts -&gt; retrieval -&gt; evidence -&gt; verified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19" b="0">
                <a:solidFill>
                  <a:srgbClr val="54607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141C2C"/>
                </a:solidFill>
                <a:latin typeface="Aptos"/>
              </a:rPr>
              <a:t>Query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46074"/>
                </a:solidFill>
                <a:latin typeface="Aptos"/>
              </a:rPr>
              <a:t>Turns Bangla, Banglish, or English text into intent and shopping slots.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14984"/>
            <a:ext cx="11137392" cy="32004"/>
          </a:xfrm>
          <a:prstGeom prst="rect">
            <a:avLst/>
          </a:prstGeom>
          <a:solidFill>
            <a:srgbClr val="6966C6"/>
          </a:solidFill>
          <a:ln>
            <a:solidFill>
              <a:srgbClr val="696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nderst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448"/>
            <a:ext cx="2974889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74920" y="1298448"/>
            <a:ext cx="3063240" cy="2267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30368" y="1408176"/>
            <a:ext cx="27523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6966C6"/>
                </a:solidFill>
                <a:latin typeface="Aptos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0368" y="1691639"/>
            <a:ext cx="2752344" cy="1810512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Normalizes customer text and expands common Banglish aliases.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Classifies intent: search, compare, size availability, same-design color, styling, policy, or order.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Extracts slots: category, color, size, fabric, budget, occasion, gender, brand, in-stock requirement.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94192" y="1298448"/>
            <a:ext cx="3063240" cy="2267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408176"/>
            <a:ext cx="27523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6966C6"/>
                </a:solidFill>
                <a:latin typeface="Aptos"/>
              </a:rPr>
              <a:t>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691639"/>
            <a:ext cx="2752344" cy="1810512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Regex patterns, alias dictionaries, Bangla digit normalization, fuzzy correction.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Optional Ollama qwen3:8b JSON prompts for classifier, slot extractor, and conversation planner.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Recent conversation state helps resolve follow-ups like 'same design blue e ache?'.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3877056"/>
            <a:ext cx="6382512" cy="23134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3986784"/>
            <a:ext cx="607161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6966C6"/>
                </a:solidFill>
                <a:latin typeface="Aptos"/>
              </a:rPr>
              <a:t>Engineering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4270248"/>
            <a:ext cx="6071616" cy="1856231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Deterministic extraction wins for hard fields.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LLM output fills gaps but should not override safer exact matches.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Low-confidence understanding triggers one clarification question.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65836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19" b="0">
                <a:solidFill>
                  <a:srgbClr val="546074"/>
                </a:solidFill>
                <a:latin typeface="Aptos"/>
              </a:rPr>
              <a:t>RAG pipeline only: catalog facts -&gt; retrieval -&gt; evidence -&gt; verified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19" b="0">
                <a:solidFill>
                  <a:srgbClr val="54607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141C2C"/>
                </a:solidFill>
                <a:latin typeface="Aptos"/>
              </a:rPr>
              <a:t>Structured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46074"/>
                </a:solidFill>
                <a:latin typeface="Aptos"/>
              </a:rPr>
              <a:t>Exact filters answer hard inventory questions before semantic search gets involved.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14984"/>
            <a:ext cx="11137392" cy="32004"/>
          </a:xfrm>
          <a:prstGeom prst="rect">
            <a:avLst/>
          </a:prstGeom>
          <a:solidFill>
            <a:srgbClr val="CD6711"/>
          </a:solidFill>
          <a:ln>
            <a:solidFill>
              <a:srgbClr val="CD6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ructured_retri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448"/>
            <a:ext cx="416052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74920" y="1298448"/>
            <a:ext cx="3063240" cy="2267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30368" y="1408176"/>
            <a:ext cx="27523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CD6711"/>
                </a:solidFill>
                <a:latin typeface="Aptos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0368" y="1691639"/>
            <a:ext cx="2752344" cy="1810512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Filters catalog records by category, color, size, price, stock, gender, fabric, occasion, design_id.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Handles exact product questions like size availability and same-design different-color checks.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Returns precise candidates when the user gives concrete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94192" y="1298448"/>
            <a:ext cx="3063240" cy="2267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408176"/>
            <a:ext cx="27523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CD6711"/>
                </a:solidFill>
                <a:latin typeface="Aptos"/>
              </a:rPr>
              <a:t>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691639"/>
            <a:ext cx="2752344" cy="1810512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Python filtering over validated Pydantic inventory records.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Retail-specific logic in fashion_retail.py and inventory_service.py.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Structured metadata from catalog attributes drives filtering.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3877056"/>
            <a:ext cx="6382512" cy="23134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3986784"/>
            <a:ext cx="607161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CD6711"/>
                </a:solidFill>
                <a:latin typeface="Aptos"/>
              </a:rPr>
              <a:t>Engineering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4270248"/>
            <a:ext cx="6071616" cy="1856231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Use structured retrieval for correctness-critical fields.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design_id/variant groups identify same design across colors or sizes.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Out-of-stock products may be mentioned only with a clear caveat.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65836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19" b="0">
                <a:solidFill>
                  <a:srgbClr val="546074"/>
                </a:solidFill>
                <a:latin typeface="Aptos"/>
              </a:rPr>
              <a:t>RAG pipeline only: catalog facts -&gt; retrieval -&gt; evidence -&gt; verified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19" b="0">
                <a:solidFill>
                  <a:srgbClr val="54607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141C2C"/>
                </a:solidFill>
                <a:latin typeface="Aptos"/>
              </a:rPr>
              <a:t>Vector + Lexical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46074"/>
                </a:solidFill>
                <a:latin typeface="Aptos"/>
              </a:rPr>
              <a:t>Semantic and keyword search increase recall when the customer wording is fuzzy.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14984"/>
            <a:ext cx="11137392" cy="32004"/>
          </a:xfrm>
          <a:prstGeom prst="rect">
            <a:avLst/>
          </a:prstGeom>
          <a:solidFill>
            <a:srgbClr val="CD6711"/>
          </a:solidFill>
          <a:ln>
            <a:solidFill>
              <a:srgbClr val="CD6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ector_lex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448"/>
            <a:ext cx="4160520" cy="2788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74920" y="1298448"/>
            <a:ext cx="3063240" cy="2267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30368" y="1408176"/>
            <a:ext cx="27523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CD6711"/>
                </a:solidFill>
                <a:latin typeface="Aptos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0368" y="1691639"/>
            <a:ext cx="2752344" cy="1810512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Embeds product search text and the customer query for semantic matching.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Uses lexical matching for product names, SKU, brand, category, and exact keywords.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Combines semantic recall with metadata filters so fuzzy wording still lands on real products.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94192" y="1298448"/>
            <a:ext cx="3063240" cy="2267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408176"/>
            <a:ext cx="27523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CD6711"/>
                </a:solidFill>
                <a:latin typeface="Aptos"/>
              </a:rPr>
              <a:t>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691639"/>
            <a:ext cx="2752344" cy="1810512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Embedding providers: transformers/multilingual, OpenAI-compatible, or deterministic fallback.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Vector stores: local JSONL by default; Elasticsearch adapter supports dense vectors and filters.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BM25 or Elasticsearch multi_match supports lexical retrieval.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3877056"/>
            <a:ext cx="6382512" cy="23134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3986784"/>
            <a:ext cx="607161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CD6711"/>
                </a:solidFill>
                <a:latin typeface="Aptos"/>
              </a:rPr>
              <a:t>Engineering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4270248"/>
            <a:ext cx="6071616" cy="1856231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Embeddings help recall; they do not override exact catalog fields.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Lexical search protects exact names and SKUs that embeddings may blur.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Retrieved hits are candidates only; ranking and evidence gates still decide final claims.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65836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19" b="0">
                <a:solidFill>
                  <a:srgbClr val="546074"/>
                </a:solidFill>
                <a:latin typeface="Aptos"/>
              </a:rPr>
              <a:t>RAG pipeline only: catalog facts -&gt; retrieval -&gt; evidence -&gt; verified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19" b="0">
                <a:solidFill>
                  <a:srgbClr val="54607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141C2C"/>
                </a:solidFill>
                <a:latin typeface="Aptos"/>
              </a:rPr>
              <a:t>Ranking + Evidence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46074"/>
                </a:solidFill>
                <a:latin typeface="Aptos"/>
              </a:rPr>
              <a:t>Transforms candidates into allowed facts and controlled answer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14984"/>
            <a:ext cx="11137392" cy="32004"/>
          </a:xfrm>
          <a:prstGeom prst="rect">
            <a:avLst/>
          </a:prstGeom>
          <a:solidFill>
            <a:srgbClr val="AA518E"/>
          </a:solidFill>
          <a:ln>
            <a:solidFill>
              <a:srgbClr val="AA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448"/>
            <a:ext cx="2842671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74920" y="1298448"/>
            <a:ext cx="3063240" cy="2267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30368" y="1408176"/>
            <a:ext cx="27523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AA518E"/>
                </a:solidFill>
                <a:latin typeface="Aptos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0368" y="1691639"/>
            <a:ext cx="2752344" cy="1810512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Scores candidates by relevance, exact slot match, stock fit, price fit, category fit, and product-name match.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Builds an evidence contract: primary item, alternatives, cross-sells, exclusions, tradeoffs, missing facts.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Decides whether to answer, clarify, or abstain.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94192" y="1298448"/>
            <a:ext cx="3063240" cy="2267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408176"/>
            <a:ext cx="27523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AA518E"/>
                </a:solidFill>
                <a:latin typeface="Aptos"/>
              </a:rPr>
              <a:t>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691639"/>
            <a:ext cx="2752344" cy="1810512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Custom ecommerce reranker and deterministic decisioning code.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Pydantic evidence contract objects.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Optional bounded LLM reasoner can choose only from retrieved product ids.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3877056"/>
            <a:ext cx="6382512" cy="23134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3986784"/>
            <a:ext cx="607161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AA518E"/>
                </a:solidFill>
                <a:latin typeface="Aptos"/>
              </a:rPr>
              <a:t>Engineering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4270248"/>
            <a:ext cx="6071616" cy="1856231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Only supported catalog facts can pass into the final answer.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Cross-sells are add-ons, not substitutes.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Weak evidence, missing required facts, or contradictions trigger clarification/abstention.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65836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19" b="0">
                <a:solidFill>
                  <a:srgbClr val="546074"/>
                </a:solidFill>
                <a:latin typeface="Aptos"/>
              </a:rPr>
              <a:t>RAG pipeline only: catalog facts -&gt; retrieval -&gt; evidence -&gt; verified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19" b="0">
                <a:solidFill>
                  <a:srgbClr val="54607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141C2C"/>
                </a:solidFill>
                <a:latin typeface="Aptos"/>
              </a:rPr>
              <a:t>Answer Writing +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46074"/>
                </a:solidFill>
                <a:latin typeface="Aptos"/>
              </a:rPr>
              <a:t>Writes the customer reply from evidence, then checks it before returning.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14984"/>
            <a:ext cx="11137392" cy="32004"/>
          </a:xfrm>
          <a:prstGeom prst="rect">
            <a:avLst/>
          </a:prstGeom>
          <a:solidFill>
            <a:srgbClr val="5C687C"/>
          </a:solidFill>
          <a:ln>
            <a:solidFill>
              <a:srgbClr val="5C6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swer_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448"/>
            <a:ext cx="2941834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74920" y="1298448"/>
            <a:ext cx="3063240" cy="2267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30368" y="1408176"/>
            <a:ext cx="27523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5C687C"/>
                </a:solidFill>
                <a:latin typeface="Aptos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0368" y="1691639"/>
            <a:ext cx="2752344" cy="1810512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Writes a concise answer in the customer's language style: Bangla, Banglish, or English.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Mentions only approved products, prices, stock, caveats, and follow-up questions.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Verifies that the final text did not invent product facts or override the answer plan.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94192" y="1298448"/>
            <a:ext cx="3063240" cy="2267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408176"/>
            <a:ext cx="27523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5C687C"/>
                </a:solidFill>
                <a:latin typeface="Aptos"/>
              </a:rPr>
              <a:t>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691639"/>
            <a:ext cx="2752344" cy="1810512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Deterministic templates for safe fallback answers.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Optional Ollama/OpenAI-compatible natural writer with a strict ecommerce writer prompt.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Optional answer critic checks the reply against product facts.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3877056"/>
            <a:ext cx="6382512" cy="23134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3986784"/>
            <a:ext cx="607161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20" b="1">
                <a:solidFill>
                  <a:srgbClr val="5C687C"/>
                </a:solidFill>
                <a:latin typeface="Aptos"/>
              </a:rPr>
              <a:t>Engineering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4270248"/>
            <a:ext cx="6071616" cy="1856231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The writer expresses the decision; it does not choose products.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writer_contract and answer_plan control allowed claims.</a:t>
            </a:r>
          </a:p>
          <a:p>
            <a:pPr marL="210000" indent="-130000">
              <a:spcAft>
                <a:spcPts val="550"/>
              </a:spcAft>
              <a:defRPr sz="1080">
                <a:solidFill>
                  <a:srgbClr val="141C2C"/>
                </a:solidFill>
                <a:latin typeface="Aptos"/>
              </a:defRPr>
            </a:pPr>
            <a:r>
              <a:t>If verification fails, the system falls back or abstains instead of shipping a fluent wrong answer.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65836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19" b="0">
                <a:solidFill>
                  <a:srgbClr val="546074"/>
                </a:solidFill>
                <a:latin typeface="Aptos"/>
              </a:rPr>
              <a:t>RAG pipeline only: catalog facts -&gt; retrieval -&gt; evidence -&gt; verified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19" b="0">
                <a:solidFill>
                  <a:srgbClr val="54607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